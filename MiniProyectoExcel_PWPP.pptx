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5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726"/>
  </p:normalViewPr>
  <p:slideViewPr>
    <p:cSldViewPr snapToGrid="0">
      <p:cViewPr varScale="1">
        <p:scale>
          <a:sx n="110" d="100"/>
          <a:sy n="110" d="100"/>
        </p:scale>
        <p:origin x="73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Productos</c:v>
          </c:tx>
          <c:spPr>
            <a:solidFill>
              <a:srgbClr val="D7192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D1D1F"/>
                    </a:solidFill>
                    <a:latin typeface="Bitstream Charter"/>
                    <a:ea typeface="Bitstream Charter"/>
                    <a:cs typeface="Bitstream Charter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Bebidas</c:v>
              </c:pt>
              <c:pt idx="1">
                <c:v>McCafé</c:v>
              </c:pt>
              <c:pt idx="2">
                <c:v>Postres</c:v>
              </c:pt>
              <c:pt idx="3">
                <c:v>Burgers</c:v>
              </c:pt>
              <c:pt idx="4">
                <c:v>Desayuno</c:v>
              </c:pt>
              <c:pt idx="5">
                <c:v>Snacks</c:v>
              </c:pt>
              <c:pt idx="6">
                <c:v>Chicken</c:v>
              </c:pt>
              <c:pt idx="7">
                <c:v>Ensaladas</c:v>
              </c:pt>
              <c:pt idx="8">
                <c:v>Happy Meal</c:v>
              </c:pt>
            </c:strLit>
          </c:cat>
          <c:val>
            <c:numLit>
              <c:formatCode>General</c:formatCode>
              <c:ptCount val="9"/>
              <c:pt idx="0">
                <c:v>12</c:v>
              </c:pt>
              <c:pt idx="1">
                <c:v>12</c:v>
              </c:pt>
              <c:pt idx="2">
                <c:v>11</c:v>
              </c:pt>
              <c:pt idx="3">
                <c:v>10</c:v>
              </c:pt>
              <c:pt idx="4">
                <c:v>10</c:v>
              </c:pt>
              <c:pt idx="5">
                <c:v>9</c:v>
              </c:pt>
              <c:pt idx="6">
                <c:v>7</c:v>
              </c:pt>
              <c:pt idx="7">
                <c:v>5</c:v>
              </c:pt>
              <c:pt idx="8">
                <c:v>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C66-C743-875A-ABD5B1151FD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endParaRPr lang="es-ES"/>
          </a:p>
        </c:txPr>
        <c:crossAx val="48650112"/>
        <c:crosses val="autoZero"/>
        <c:crossBetween val="between"/>
      </c:valAx>
      <c:spPr>
        <a:solidFill>
          <a:srgbClr val="F7F5F2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7F5F2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Proteína por dólar</c:v>
          </c:tx>
          <c:spPr>
            <a:solidFill>
              <a:srgbClr val="FFC72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D1D1F"/>
                    </a:solidFill>
                    <a:latin typeface="Bitstream Charter"/>
                    <a:ea typeface="Bitstream Charter"/>
                    <a:cs typeface="Bitstream Charter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Chicken &amp; Sandwiches</c:v>
              </c:pt>
              <c:pt idx="1">
                <c:v>Burgers</c:v>
              </c:pt>
              <c:pt idx="2">
                <c:v>Snacks &amp; Sides</c:v>
              </c:pt>
              <c:pt idx="3">
                <c:v>Happy Meal</c:v>
              </c:pt>
              <c:pt idx="4">
                <c:v>Salads</c:v>
              </c:pt>
              <c:pt idx="5">
                <c:v>Breakfast</c:v>
              </c:pt>
            </c:strLit>
          </c:cat>
          <c:val>
            <c:numLit>
              <c:formatCode>General</c:formatCode>
              <c:ptCount val="6"/>
              <c:pt idx="0">
                <c:v>6.22</c:v>
              </c:pt>
              <c:pt idx="1">
                <c:v>5.39</c:v>
              </c:pt>
              <c:pt idx="2">
                <c:v>4.95</c:v>
              </c:pt>
              <c:pt idx="3">
                <c:v>4.01</c:v>
              </c:pt>
              <c:pt idx="4">
                <c:v>3.5950000000000002</c:v>
              </c:pt>
              <c:pt idx="5">
                <c:v>3.4129999999999998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E08-C148-915D-B36DC21060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endParaRPr lang="es-E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gráfico de dispersión demuestra que precio y calorías no aumentan juntos de forma clara. Las ensaladas cuestan 5,76 dólares de media y tienen 151,8 calorías. Los postres cuestan 2,98 dólares y alcanzan 427,7 calorías.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6B826-314B-C735-9D21-90779E87B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F2349-818E-D45C-18D7-7FB8E34D4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54A8EE-F7CD-2315-4CEA-FAE3FA1B1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gráfico de dispersión demuestra que precio y calorías no aumentan juntos de forma clara. Las ensaladas cuestan 5,76 dólares de media y tienen 151,8 calorías. Los postres cuestan 2,98 dólares y alcanzan 427,7 calorías.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B6A85-FD35-C21B-1709-281EC903EF6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469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mayor desafío fue técnico y de estructura. Tenía análisis a nivel de categoría y producto, además de unidades muy diferentes. La dificultad consistía en mantener la trazabilidad desde los datos originales hasta cada gráfico.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este momento abro el Excel y muestro Tablas1 y Tablas2. Enseño los filtros, las tablas dinámicas, los gráficos y cómo GETPIVOTDATA alimenta la tabla resumen.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Proyecto_McDonalds.xls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7D4393C-D404-44EE-AC27-96372161CB43}"/>
              </a:ext>
            </a:extLst>
          </p:cNvPr>
          <p:cNvSpPr>
            <a:spLocks noGrp="1"/>
          </p:cNvSpPr>
          <p:nvPr/>
        </p:nvSpPr>
        <p:spPr>
          <a:xfrm>
            <a:off x="609600" y="338439"/>
            <a:ext cx="8175585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330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ANÁLISIS DEL MENÚDE </a:t>
            </a:r>
            <a:r>
              <a:rPr sz="3300" b="1" dirty="0" err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McDONALD’S</a:t>
            </a:r>
            <a:r>
              <a:rPr lang="es-ES" sz="330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 en 2026</a:t>
            </a:r>
            <a:endParaRPr sz="3300" b="1" dirty="0">
              <a:solidFill>
                <a:srgbClr val="1D1D1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1280F78-EDA6-442A-B1A7-10F29CAF948A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6191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Proyecto de </a:t>
            </a:r>
            <a:r>
              <a:rPr sz="1650" b="0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análisis</a:t>
            </a:r>
            <a:r>
              <a:rPr sz="1650" b="0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 con </a:t>
            </a:r>
            <a:r>
              <a:rPr sz="1650" b="0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tablas</a:t>
            </a:r>
            <a:r>
              <a:rPr lang="es-ES" sz="1650" b="0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, tablas</a:t>
            </a:r>
            <a:r>
              <a:rPr sz="1650" b="0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0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dinámicas</a:t>
            </a:r>
            <a:r>
              <a:rPr sz="1650" b="0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650" b="0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gráficos</a:t>
            </a:r>
            <a:endParaRPr sz="1650" b="0" dirty="0">
              <a:solidFill>
                <a:srgbClr val="5F6368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187853CE-9C11-4979-9CA1-0BF0A48AC8D6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3143250" cy="1143000"/>
          </a:xfrm>
          <a:prstGeom prst="roundRect">
            <a:avLst>
              <a:gd name="adj" fmla="val 15000"/>
            </a:avLst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4A8140B-CD77-4614-9C2C-18C4B9D720CB}"/>
              </a:ext>
            </a:extLst>
          </p:cNvPr>
          <p:cNvSpPr>
            <a:spLocks noGrp="1"/>
          </p:cNvSpPr>
          <p:nvPr/>
        </p:nvSpPr>
        <p:spPr>
          <a:xfrm>
            <a:off x="838200" y="2505075"/>
            <a:ext cx="952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34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80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6BB7584-32A5-4AA3-8A07-4D2A30DBDF7C}"/>
              </a:ext>
            </a:extLst>
          </p:cNvPr>
          <p:cNvSpPr>
            <a:spLocks noGrp="1"/>
          </p:cNvSpPr>
          <p:nvPr/>
        </p:nvSpPr>
        <p:spPr>
          <a:xfrm>
            <a:off x="838200" y="30480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productos analizados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5986DA66-3F90-4D6F-B62A-110071753C6D}"/>
              </a:ext>
            </a:extLst>
          </p:cNvPr>
          <p:cNvSpPr>
            <a:spLocks noGrp="1"/>
          </p:cNvSpPr>
          <p:nvPr/>
        </p:nvSpPr>
        <p:spPr>
          <a:xfrm>
            <a:off x="3943350" y="2381250"/>
            <a:ext cx="2476500" cy="1143000"/>
          </a:xfrm>
          <a:prstGeom prst="roundRect">
            <a:avLst>
              <a:gd name="adj" fmla="val 15000"/>
            </a:avLst>
          </a:prstGeom>
          <a:solidFill>
            <a:srgbClr val="FFC7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EA73A29-9D3D-4782-9EA8-473F9ADBEE00}"/>
              </a:ext>
            </a:extLst>
          </p:cNvPr>
          <p:cNvSpPr>
            <a:spLocks noGrp="1"/>
          </p:cNvSpPr>
          <p:nvPr/>
        </p:nvSpPr>
        <p:spPr>
          <a:xfrm>
            <a:off x="4171950" y="2505075"/>
            <a:ext cx="762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345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9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5CBC272-CB5E-4F25-9C4C-AFE017FF3EA5}"/>
              </a:ext>
            </a:extLst>
          </p:cNvPr>
          <p:cNvSpPr>
            <a:spLocks noGrp="1"/>
          </p:cNvSpPr>
          <p:nvPr/>
        </p:nvSpPr>
        <p:spPr>
          <a:xfrm>
            <a:off x="4171950" y="30480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categorías</a:t>
            </a:r>
          </a:p>
        </p:txBody>
      </p:sp>
      <p:graphicFrame>
        <p:nvGraphicFramePr>
          <p:cNvPr id="21" name="Chart"/>
          <p:cNvGraphicFramePr/>
          <p:nvPr>
            <p:extLst>
              <p:ext uri="{D42A27DB-BD31-4B8C-83A1-F6EECF244321}">
                <p14:modId xmlns:p14="http://schemas.microsoft.com/office/powerpoint/2010/main" val="4152565875"/>
              </p:ext>
            </p:extLst>
          </p:nvPr>
        </p:nvGraphicFramePr>
        <p:xfrm>
          <a:off x="7048500" y="1284789"/>
          <a:ext cx="4476750" cy="4382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769B881C-F3F1-45A8-9707-F7A344DD8DBF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rPr>
              <a:t>Objetivo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E937DC4-807D-4770-BDFF-E8389311E53C}"/>
              </a:ext>
            </a:extLst>
          </p:cNvPr>
          <p:cNvSpPr>
            <a:spLocks noGrp="1"/>
          </p:cNvSpPr>
          <p:nvPr/>
        </p:nvSpPr>
        <p:spPr>
          <a:xfrm>
            <a:off x="609600" y="4238625"/>
            <a:ext cx="5762625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Entender cómo se distribuye el menú y comparar precio, calorías, proteína, azúcar, sodio y tiempo de preparación.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3698B28-3854-4980-AF6E-FA4D8F25B7C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381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Fuente: hojas Tablas1 y Tablas2</a:t>
            </a:r>
          </a:p>
        </p:txBody>
      </p:sp>
    </p:spTree>
    <p:extLst>
      <p:ext uri="{BB962C8B-B14F-4D97-AF65-F5344CB8AC3E}">
        <p14:creationId xmlns:p14="http://schemas.microsoft.com/office/powerpoint/2010/main" val="1589383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1A4F3D64-0DC7-4CE3-86E3-953406816D3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defRPr>
            </a:pPr>
            <a:endParaRPr sz="1125" b="1" dirty="0">
              <a:solidFill>
                <a:srgbClr val="D71920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3E88EA2-FA89-4E32-BC07-59B28E637C7A}"/>
              </a:ext>
            </a:extLst>
          </p:cNvPr>
          <p:cNvSpPr>
            <a:spLocks noGrp="1"/>
          </p:cNvSpPr>
          <p:nvPr/>
        </p:nvSpPr>
        <p:spPr>
          <a:xfrm>
            <a:off x="1143000" y="3238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El precio no explica por sí solo el perfil nutricional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50AC0C29-6B17-4AF4-95F2-915999CAF5D0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0"/>
          </a:xfrm>
          <a:prstGeom prst="line">
            <a:avLst/>
          </a:prstGeom>
          <a:ln w="9525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17CC271E-7502-4300-B929-890725B33FD7}"/>
              </a:ext>
            </a:extLst>
          </p:cNvPr>
          <p:cNvSpPr>
            <a:spLocks noGrp="1"/>
          </p:cNvSpPr>
          <p:nvPr/>
        </p:nvSpPr>
        <p:spPr>
          <a:xfrm>
            <a:off x="7715250" y="1842703"/>
            <a:ext cx="3714750" cy="1143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B01A17F-D6A8-42D2-AE30-36C00E470AC1}"/>
              </a:ext>
            </a:extLst>
          </p:cNvPr>
          <p:cNvSpPr>
            <a:spLocks noGrp="1"/>
          </p:cNvSpPr>
          <p:nvPr/>
        </p:nvSpPr>
        <p:spPr>
          <a:xfrm>
            <a:off x="8001000" y="2004628"/>
            <a:ext cx="1428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625" b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rPr>
              <a:t>$4,08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A8B44AD-5A88-471D-9813-F5768E372528}"/>
              </a:ext>
            </a:extLst>
          </p:cNvPr>
          <p:cNvSpPr>
            <a:spLocks noGrp="1"/>
          </p:cNvSpPr>
          <p:nvPr/>
        </p:nvSpPr>
        <p:spPr>
          <a:xfrm>
            <a:off x="8001000" y="2442778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precio</a:t>
            </a:r>
            <a:r>
              <a:rPr sz="1275" b="0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 medio total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BCE3FB34-BD4E-4960-B7FA-ED78A1B59761}"/>
              </a:ext>
            </a:extLst>
          </p:cNvPr>
          <p:cNvSpPr>
            <a:spLocks noGrp="1"/>
          </p:cNvSpPr>
          <p:nvPr/>
        </p:nvSpPr>
        <p:spPr>
          <a:xfrm>
            <a:off x="7715250" y="3119054"/>
            <a:ext cx="3714750" cy="1143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1D53B34-6118-44FD-A72E-49F83824E744}"/>
              </a:ext>
            </a:extLst>
          </p:cNvPr>
          <p:cNvSpPr>
            <a:spLocks noGrp="1"/>
          </p:cNvSpPr>
          <p:nvPr/>
        </p:nvSpPr>
        <p:spPr>
          <a:xfrm>
            <a:off x="8001000" y="3280979"/>
            <a:ext cx="1428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625" b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 dirty="0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rPr>
              <a:t>312,5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5039C31-07B5-49D2-829D-A2309E568683}"/>
              </a:ext>
            </a:extLst>
          </p:cNvPr>
          <p:cNvSpPr>
            <a:spLocks noGrp="1"/>
          </p:cNvSpPr>
          <p:nvPr/>
        </p:nvSpPr>
        <p:spPr>
          <a:xfrm>
            <a:off x="8001000" y="3719129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calorías medias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2D93CF2-A1FC-4113-AC34-935188A024B6}"/>
              </a:ext>
            </a:extLst>
          </p:cNvPr>
          <p:cNvSpPr>
            <a:spLocks noGrp="1"/>
          </p:cNvSpPr>
          <p:nvPr/>
        </p:nvSpPr>
        <p:spPr>
          <a:xfrm>
            <a:off x="723900" y="4695211"/>
            <a:ext cx="107061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ES" sz="1650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Precios más altos no tienen una correlación directa fuerte con más </a:t>
            </a:r>
            <a:r>
              <a:rPr lang="es-ES" sz="1650" dirty="0" err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calorias</a:t>
            </a:r>
            <a:endParaRPr lang="es-ES" sz="1650" dirty="0">
              <a:solidFill>
                <a:srgbClr val="1D1D1F"/>
              </a:solidFill>
              <a:latin typeface="Bitstream Charter"/>
              <a:ea typeface="Bitstream Charter"/>
              <a:cs typeface="Bitstream Charter"/>
            </a:endParaRPr>
          </a:p>
          <a:p>
            <a:pPr algn="l">
              <a:defRPr sz="165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endParaRPr lang="es-ES" sz="1650" b="1" dirty="0">
              <a:solidFill>
                <a:srgbClr val="1D1D1F"/>
              </a:solidFill>
              <a:latin typeface="Bitstream Charter"/>
              <a:ea typeface="Bitstream Charter"/>
              <a:cs typeface="Bitstream Charter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65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ES" sz="165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E.G: </a:t>
            </a:r>
            <a:r>
              <a:rPr sz="165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La ensalada </a:t>
            </a:r>
            <a:r>
              <a:rPr sz="1650" b="1" dirty="0" err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tiene</a:t>
            </a:r>
            <a:r>
              <a:rPr sz="165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 un </a:t>
            </a:r>
            <a:r>
              <a:rPr sz="1650" b="1" dirty="0" err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precio</a:t>
            </a:r>
            <a:r>
              <a:rPr sz="165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 alto y </a:t>
            </a:r>
            <a:r>
              <a:rPr sz="1650" b="1" dirty="0" err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pocas</a:t>
            </a:r>
            <a:r>
              <a:rPr sz="165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calorías</a:t>
            </a:r>
            <a:r>
              <a:rPr sz="165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650" b="1" dirty="0" err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mientras</a:t>
            </a:r>
            <a:r>
              <a:rPr sz="165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 que </a:t>
            </a:r>
            <a:r>
              <a:rPr sz="1650" b="1" dirty="0" err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los</a:t>
            </a:r>
            <a:r>
              <a:rPr sz="165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postres</a:t>
            </a:r>
            <a:r>
              <a:rPr sz="165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 son </a:t>
            </a:r>
            <a:r>
              <a:rPr sz="1650" b="1" dirty="0" err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más</a:t>
            </a:r>
            <a:r>
              <a:rPr sz="165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baratos</a:t>
            </a:r>
            <a:r>
              <a:rPr sz="165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650" b="1" dirty="0" err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mucho</a:t>
            </a:r>
            <a:r>
              <a:rPr sz="165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más</a:t>
            </a:r>
            <a:r>
              <a:rPr sz="165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650" b="1" dirty="0" err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calóricos</a:t>
            </a:r>
            <a:r>
              <a:rPr sz="165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6E6449-B0C3-4E70-83B7-E8AC3345E29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Miniproject · PivotTables &amp; Charts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2BB15D9-C869-2046-B379-25AD994D9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880955"/>
            <a:ext cx="6534150" cy="251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809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68DD1DD-9C7E-420A-80F7-BE59B9ABB856}"/>
              </a:ext>
            </a:extLst>
          </p:cNvPr>
          <p:cNvSpPr>
            <a:spLocks noGrp="1"/>
          </p:cNvSpPr>
          <p:nvPr/>
        </p:nvSpPr>
        <p:spPr>
          <a:xfrm>
            <a:off x="1143000" y="3238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Las mejores opciones dependen del criterio elegido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1A01677B-DABC-408A-BE48-1A30BEF46F3A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0"/>
          </a:xfrm>
          <a:prstGeom prst="line">
            <a:avLst/>
          </a:prstGeom>
          <a:ln w="9525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graphicFrame>
        <p:nvGraphicFramePr>
          <p:cNvPr id="18" name="Chart"/>
          <p:cNvGraphicFramePr/>
          <p:nvPr/>
        </p:nvGraphicFramePr>
        <p:xfrm>
          <a:off x="571500" y="1381125"/>
          <a:ext cx="56197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7C4A99B3-2CFF-49EB-8FC6-58FD6F80B75D}"/>
              </a:ext>
            </a:extLst>
          </p:cNvPr>
          <p:cNvSpPr>
            <a:spLocks noGrp="1"/>
          </p:cNvSpPr>
          <p:nvPr/>
        </p:nvSpPr>
        <p:spPr>
          <a:xfrm>
            <a:off x="742950" y="1190625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Proteína</a:t>
            </a:r>
            <a:r>
              <a:rPr sz="1275" b="1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275" b="1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por</a:t>
            </a:r>
            <a:r>
              <a:rPr sz="1275" b="1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275" b="1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dólar</a:t>
            </a:r>
            <a:endParaRPr sz="1275" b="1" dirty="0">
              <a:solidFill>
                <a:srgbClr val="5F6368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6706A24-AE81-4902-AC95-753B971D5F30}"/>
              </a:ext>
            </a:extLst>
          </p:cNvPr>
          <p:cNvSpPr>
            <a:spLocks noGrp="1"/>
          </p:cNvSpPr>
          <p:nvPr/>
        </p:nvSpPr>
        <p:spPr>
          <a:xfrm>
            <a:off x="6762750" y="138112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rPr>
              <a:t>Mejor valor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D7B612F-187F-4C32-8999-1B8DC96D01C7}"/>
              </a:ext>
            </a:extLst>
          </p:cNvPr>
          <p:cNvSpPr>
            <a:spLocks noGrp="1"/>
          </p:cNvSpPr>
          <p:nvPr/>
        </p:nvSpPr>
        <p:spPr>
          <a:xfrm>
            <a:off x="6762750" y="1704975"/>
            <a:ext cx="4476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Chicken &amp; Sandwiches lidera con 6,22 g de proteína por dólar entre las categorías filtradas.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EA92F7D-87FB-497B-9580-C2E8141157B3}"/>
              </a:ext>
            </a:extLst>
          </p:cNvPr>
          <p:cNvSpPr>
            <a:spLocks noGrp="1"/>
          </p:cNvSpPr>
          <p:nvPr/>
        </p:nvSpPr>
        <p:spPr>
          <a:xfrm>
            <a:off x="6762750" y="244792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rPr>
              <a:t>Producto líder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999F406-CAFF-4328-915F-65E541ED9CDE}"/>
              </a:ext>
            </a:extLst>
          </p:cNvPr>
          <p:cNvSpPr>
            <a:spLocks noGrp="1"/>
          </p:cNvSpPr>
          <p:nvPr/>
        </p:nvSpPr>
        <p:spPr>
          <a:xfrm>
            <a:off x="6762750" y="2771775"/>
            <a:ext cx="4476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Double Quarter Pounder with Cheese alcanza 10,98 g de proteína por dólar.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B57493C-8632-4D7E-98ED-63833D396A3B}"/>
              </a:ext>
            </a:extLst>
          </p:cNvPr>
          <p:cNvSpPr>
            <a:spLocks noGrp="1"/>
          </p:cNvSpPr>
          <p:nvPr/>
        </p:nvSpPr>
        <p:spPr>
          <a:xfrm>
            <a:off x="6762750" y="351472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rPr>
              <a:t>Perfil equilibrado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489098F-A099-4782-9AA3-3629842E2581}"/>
              </a:ext>
            </a:extLst>
          </p:cNvPr>
          <p:cNvSpPr>
            <a:spLocks noGrp="1"/>
          </p:cNvSpPr>
          <p:nvPr/>
        </p:nvSpPr>
        <p:spPr>
          <a:xfrm>
            <a:off x="6762750" y="3838575"/>
            <a:ext cx="4476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Salads combina 151,8 kcal, 1,82 g de azúcar y 11 g de proteína de media.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8065935-5ABF-4A6A-919D-6FF0E4C9F1F4}"/>
              </a:ext>
            </a:extLst>
          </p:cNvPr>
          <p:cNvSpPr>
            <a:spLocks noGrp="1"/>
          </p:cNvSpPr>
          <p:nvPr/>
        </p:nvSpPr>
        <p:spPr>
          <a:xfrm>
            <a:off x="6762750" y="458152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rPr>
              <a:t>Tiempo ≠ precio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1A83636-63D5-41AF-BD32-E9AA4AAD4E6D}"/>
              </a:ext>
            </a:extLst>
          </p:cNvPr>
          <p:cNvSpPr>
            <a:spLocks noGrp="1"/>
          </p:cNvSpPr>
          <p:nvPr/>
        </p:nvSpPr>
        <p:spPr>
          <a:xfrm>
            <a:off x="6762750" y="4905375"/>
            <a:ext cx="4476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Beverages tarda 7,33 min de media y es la categoría más barata: $2,38.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D86AE6E-6E43-4331-94DD-FD28EF85562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Miniproject · PivotTables &amp; Charts</a:t>
            </a:r>
          </a:p>
        </p:txBody>
      </p:sp>
    </p:spTree>
    <p:extLst>
      <p:ext uri="{BB962C8B-B14F-4D97-AF65-F5344CB8AC3E}">
        <p14:creationId xmlns:p14="http://schemas.microsoft.com/office/powerpoint/2010/main" val="1137473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120E4-85DF-1857-4A69-7EDFD566D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BCCB526-0EB8-ED29-2A60-BD25F19CD0D3}"/>
              </a:ext>
            </a:extLst>
          </p:cNvPr>
          <p:cNvSpPr>
            <a:spLocks noGrp="1"/>
          </p:cNvSpPr>
          <p:nvPr/>
        </p:nvSpPr>
        <p:spPr>
          <a:xfrm>
            <a:off x="1143000" y="3238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ES" sz="255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Tiempo de preparación vs Precio</a:t>
            </a:r>
            <a:endParaRPr sz="2550" b="1" dirty="0">
              <a:solidFill>
                <a:srgbClr val="1D1D1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6A04398F-E3C2-C3E5-C821-646429F2B7B6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0"/>
          </a:xfrm>
          <a:prstGeom prst="line">
            <a:avLst/>
          </a:prstGeom>
          <a:ln w="9525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5E30980-1629-15FF-5F34-8C91ECA3DC8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Miniproject · PivotTables &amp; Charts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2FC868-1CCB-9E1F-4587-009C464E8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74411"/>
            <a:ext cx="9241294" cy="389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672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D99ACAF3-3E4D-42D3-A341-4003739A7A8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defRPr>
            </a:pPr>
            <a:endParaRPr sz="1125" b="1" dirty="0">
              <a:solidFill>
                <a:srgbClr val="D71920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FB67EC3-FD1E-42C4-9EB7-C12DDAA6DC1B}"/>
              </a:ext>
            </a:extLst>
          </p:cNvPr>
          <p:cNvSpPr>
            <a:spLocks noGrp="1"/>
          </p:cNvSpPr>
          <p:nvPr/>
        </p:nvSpPr>
        <p:spPr>
          <a:xfrm>
            <a:off x="1143000" y="3238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dirty="0" err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Desafío</a:t>
            </a:r>
            <a:r>
              <a:rPr sz="255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550" b="1" dirty="0" err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técnico</a:t>
            </a:r>
            <a:r>
              <a:rPr lang="es-ES" sz="255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:</a:t>
            </a:r>
            <a:endParaRPr sz="2550" b="1" dirty="0">
              <a:solidFill>
                <a:srgbClr val="1D1D1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D5F4BDBD-D5DF-4FFB-82BD-87FB80070B58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0"/>
          </a:xfrm>
          <a:prstGeom prst="line">
            <a:avLst/>
          </a:prstGeom>
          <a:ln w="9525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C5A75D0-9542-4556-A2A1-3042C9476F36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dirty="0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rPr>
              <a:t>El </a:t>
            </a:r>
            <a:r>
              <a:rPr sz="1650" b="1" dirty="0" err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rPr>
              <a:t>reto</a:t>
            </a:r>
            <a:r>
              <a:rPr sz="1650" b="1" dirty="0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rPr>
              <a:t> principal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481D2DB-3CB5-476C-B4AF-322AC48A8295}"/>
              </a:ext>
            </a:extLst>
          </p:cNvPr>
          <p:cNvSpPr>
            <a:spLocks noGrp="1"/>
          </p:cNvSpPr>
          <p:nvPr/>
        </p:nvSpPr>
        <p:spPr>
          <a:xfrm>
            <a:off x="666750" y="2286000"/>
            <a:ext cx="40957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6302"/>
          </a:bodyPr>
          <a:lstStyle/>
          <a:p>
            <a:pPr algn="l">
              <a:defRPr sz="225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Combinar resultados por categoría con una tabla por producto, sin perder filtros ni mezclar métricas.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08D48081-39F7-4149-9C0F-C17D14F786F2}"/>
              </a:ext>
            </a:extLst>
          </p:cNvPr>
          <p:cNvSpPr>
            <a:spLocks noGrp="1"/>
          </p:cNvSpPr>
          <p:nvPr/>
        </p:nvSpPr>
        <p:spPr>
          <a:xfrm>
            <a:off x="5619750" y="1381125"/>
            <a:ext cx="2381250" cy="1143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9DFCE3A-B94E-4919-9096-07786D8A23B5}"/>
              </a:ext>
            </a:extLst>
          </p:cNvPr>
          <p:cNvSpPr>
            <a:spLocks noGrp="1"/>
          </p:cNvSpPr>
          <p:nvPr/>
        </p:nvSpPr>
        <p:spPr>
          <a:xfrm>
            <a:off x="5905500" y="156210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DATOS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69C713B-D0C9-4AFB-9401-9425EAABC7A7}"/>
              </a:ext>
            </a:extLst>
          </p:cNvPr>
          <p:cNvSpPr>
            <a:spLocks noGrp="1"/>
          </p:cNvSpPr>
          <p:nvPr/>
        </p:nvSpPr>
        <p:spPr>
          <a:xfrm>
            <a:off x="5905500" y="187642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9167" lnSpcReduction="10000"/>
          </a:bodyPr>
          <a:lstStyle/>
          <a:p>
            <a:pPr algn="ctr">
              <a:defRPr sz="1875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80 productos</a:t>
            </a:r>
          </a:p>
          <a:p>
            <a:pPr algn="ctr">
              <a:defRPr sz="1875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36 variables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90BA4CE0-6BF6-4DA9-8AE1-FFB4802B841A}"/>
              </a:ext>
            </a:extLst>
          </p:cNvPr>
          <p:cNvSpPr>
            <a:spLocks noGrp="1"/>
          </p:cNvSpPr>
          <p:nvPr/>
        </p:nvSpPr>
        <p:spPr>
          <a:xfrm>
            <a:off x="8667750" y="1381125"/>
            <a:ext cx="2381250" cy="1143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4B14F21-AA8B-413D-B2F3-8DB530E6B088}"/>
              </a:ext>
            </a:extLst>
          </p:cNvPr>
          <p:cNvSpPr>
            <a:spLocks noGrp="1"/>
          </p:cNvSpPr>
          <p:nvPr/>
        </p:nvSpPr>
        <p:spPr>
          <a:xfrm>
            <a:off x="8953500" y="156210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PIVOT TABLES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05506DC-3CF2-4B59-B9F4-7402B2F15B23}"/>
              </a:ext>
            </a:extLst>
          </p:cNvPr>
          <p:cNvSpPr>
            <a:spLocks noGrp="1"/>
          </p:cNvSpPr>
          <p:nvPr/>
        </p:nvSpPr>
        <p:spPr>
          <a:xfrm>
            <a:off x="8953500" y="187642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9167" lnSpcReduction="10000"/>
          </a:bodyPr>
          <a:lstStyle/>
          <a:p>
            <a:pPr algn="ctr">
              <a:defRPr sz="1875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Categorías</a:t>
            </a:r>
          </a:p>
          <a:p>
            <a:pPr algn="ctr">
              <a:defRPr sz="1875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y productos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ABD56BDC-F7F7-4879-8366-596E54A76E9B}"/>
              </a:ext>
            </a:extLst>
          </p:cNvPr>
          <p:cNvSpPr>
            <a:spLocks noGrp="1"/>
          </p:cNvSpPr>
          <p:nvPr/>
        </p:nvSpPr>
        <p:spPr>
          <a:xfrm>
            <a:off x="5619750" y="3333750"/>
            <a:ext cx="2381250" cy="1143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2680263-A927-4931-8984-2B608035C221}"/>
              </a:ext>
            </a:extLst>
          </p:cNvPr>
          <p:cNvSpPr>
            <a:spLocks noGrp="1"/>
          </p:cNvSpPr>
          <p:nvPr/>
        </p:nvSpPr>
        <p:spPr>
          <a:xfrm>
            <a:off x="5905500" y="35147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FÓRMULAS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6005055-3532-4749-9C8B-7CA072845A45}"/>
              </a:ext>
            </a:extLst>
          </p:cNvPr>
          <p:cNvSpPr>
            <a:spLocks noGrp="1"/>
          </p:cNvSpPr>
          <p:nvPr/>
        </p:nvSpPr>
        <p:spPr>
          <a:xfrm>
            <a:off x="5905500" y="3829050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9167"/>
          </a:bodyPr>
          <a:lstStyle/>
          <a:p>
            <a:pPr algn="ctr">
              <a:defRPr sz="1875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GETPIVOTDATA</a:t>
            </a:r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C3B27675-00A5-4B15-A307-14F905FE3D7A}"/>
              </a:ext>
            </a:extLst>
          </p:cNvPr>
          <p:cNvSpPr>
            <a:spLocks noGrp="1"/>
          </p:cNvSpPr>
          <p:nvPr/>
        </p:nvSpPr>
        <p:spPr>
          <a:xfrm>
            <a:off x="8667750" y="3333750"/>
            <a:ext cx="2381250" cy="1143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0F06D30-D234-408E-85AA-8FD9C620762D}"/>
              </a:ext>
            </a:extLst>
          </p:cNvPr>
          <p:cNvSpPr>
            <a:spLocks noGrp="1"/>
          </p:cNvSpPr>
          <p:nvPr/>
        </p:nvSpPr>
        <p:spPr>
          <a:xfrm>
            <a:off x="8953500" y="35147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GRÁFICOS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995FEFD-010D-4807-BC8D-7B27F5B20408}"/>
              </a:ext>
            </a:extLst>
          </p:cNvPr>
          <p:cNvSpPr>
            <a:spLocks noGrp="1"/>
          </p:cNvSpPr>
          <p:nvPr/>
        </p:nvSpPr>
        <p:spPr>
          <a:xfrm>
            <a:off x="8953500" y="3829050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9167" lnSpcReduction="10000"/>
          </a:bodyPr>
          <a:lstStyle/>
          <a:p>
            <a:pPr algn="ctr">
              <a:defRPr sz="1875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5 visuales</a:t>
            </a:r>
          </a:p>
          <a:p>
            <a:pPr algn="ctr">
              <a:defRPr sz="1875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comparables</a:t>
            </a:r>
          </a:p>
        </p:txBody>
      </p:sp>
      <p:cxnSp>
        <p:nvCxnSpPr>
          <p:cNvPr id="41" name="Conector recto de flecha 40"/>
          <p:cNvCxnSpPr>
            <a:stCxn id="6" idx="3"/>
            <a:endCxn id="9" idx="1"/>
          </p:cNvCxnSpPr>
          <p:nvPr/>
        </p:nvCxnSpPr>
        <p:spPr>
          <a:xfrm>
            <a:off x="8001000" y="1952625"/>
            <a:ext cx="666750" cy="0"/>
          </a:xfrm>
          <a:prstGeom prst="straightConnector1">
            <a:avLst/>
          </a:prstGeom>
          <a:ln w="19050">
            <a:solidFill>
              <a:srgbClr val="D71920"/>
            </a:solidFill>
            <a:prstDash val="solid"/>
            <a:headEnd type="triangle" w="sm" len="sm"/>
          </a:ln>
        </p:spPr>
      </p:cxnSp>
      <p:cxnSp>
        <p:nvCxnSpPr>
          <p:cNvPr id="42" name="Conector recto de flecha 41"/>
          <p:cNvCxnSpPr>
            <a:stCxn id="9" idx="2"/>
            <a:endCxn id="15" idx="0"/>
          </p:cNvCxnSpPr>
          <p:nvPr/>
        </p:nvCxnSpPr>
        <p:spPr>
          <a:xfrm>
            <a:off x="9858375" y="2524125"/>
            <a:ext cx="0" cy="809625"/>
          </a:xfrm>
          <a:prstGeom prst="straightConnector1">
            <a:avLst/>
          </a:prstGeom>
          <a:ln w="19050">
            <a:solidFill>
              <a:srgbClr val="D71920"/>
            </a:solidFill>
            <a:prstDash val="solid"/>
            <a:headEnd type="triangle" w="sm" len="sm"/>
          </a:ln>
        </p:spPr>
      </p:cxnSp>
      <p:cxnSp>
        <p:nvCxnSpPr>
          <p:cNvPr id="43" name="Conector recto de flecha 42"/>
          <p:cNvCxnSpPr>
            <a:stCxn id="6" idx="2"/>
            <a:endCxn id="12" idx="0"/>
          </p:cNvCxnSpPr>
          <p:nvPr/>
        </p:nvCxnSpPr>
        <p:spPr>
          <a:xfrm>
            <a:off x="6810375" y="2524125"/>
            <a:ext cx="0" cy="809625"/>
          </a:xfrm>
          <a:prstGeom prst="straightConnector1">
            <a:avLst/>
          </a:prstGeom>
          <a:ln w="19050">
            <a:solidFill>
              <a:srgbClr val="D71920"/>
            </a:solidFill>
            <a:prstDash val="solid"/>
            <a:headEnd type="triangle" w="sm" len="sm"/>
          </a:ln>
        </p:spPr>
      </p:cxnSp>
      <p:cxnSp>
        <p:nvCxnSpPr>
          <p:cNvPr id="44" name="Conector recto de flecha 43"/>
          <p:cNvCxnSpPr>
            <a:stCxn id="12" idx="3"/>
            <a:endCxn id="15" idx="1"/>
          </p:cNvCxnSpPr>
          <p:nvPr/>
        </p:nvCxnSpPr>
        <p:spPr>
          <a:xfrm>
            <a:off x="8001000" y="3905250"/>
            <a:ext cx="666750" cy="0"/>
          </a:xfrm>
          <a:prstGeom prst="straightConnector1">
            <a:avLst/>
          </a:prstGeom>
          <a:ln w="19050">
            <a:solidFill>
              <a:srgbClr val="D71920"/>
            </a:solidFill>
            <a:prstDash val="solid"/>
            <a:headEnd type="triangle" w="sm" len="sm"/>
          </a:ln>
        </p:spPr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710565E-CCF1-4FB0-8AD7-93BC855C3C47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4095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Además</a:t>
            </a:r>
            <a:r>
              <a:rPr sz="1575" b="0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575" b="0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algunas</a:t>
            </a:r>
            <a:r>
              <a:rPr sz="1575" b="0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575" b="0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métricas</a:t>
            </a:r>
            <a:r>
              <a:rPr sz="1575" b="0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575" b="0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tenían</a:t>
            </a:r>
            <a:r>
              <a:rPr sz="1575" b="0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575" b="0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escalas</a:t>
            </a:r>
            <a:r>
              <a:rPr sz="1575" b="0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575" b="0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muy</a:t>
            </a:r>
            <a:r>
              <a:rPr sz="1575" b="0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575" b="0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distintas</a:t>
            </a:r>
            <a:r>
              <a:rPr sz="1575" b="0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: </a:t>
            </a:r>
            <a:r>
              <a:rPr sz="1575" b="0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calorías</a:t>
            </a:r>
            <a:r>
              <a:rPr sz="1575" b="0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575" b="0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gramos</a:t>
            </a:r>
            <a:r>
              <a:rPr sz="1575" b="0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575" b="0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miligramos</a:t>
            </a:r>
            <a:r>
              <a:rPr sz="1575" b="0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575" b="0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dólares</a:t>
            </a:r>
            <a:r>
              <a:rPr sz="1575" b="0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575" b="0" dirty="0" err="1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minutos</a:t>
            </a:r>
            <a:r>
              <a:rPr sz="1575" b="0" dirty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933E972-8AF6-4077-BB85-DF9396C1E3A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Miniproject · PivotTables &amp; Charts</a:t>
            </a:r>
          </a:p>
        </p:txBody>
      </p:sp>
    </p:spTree>
    <p:extLst>
      <p:ext uri="{BB962C8B-B14F-4D97-AF65-F5344CB8AC3E}">
        <p14:creationId xmlns:p14="http://schemas.microsoft.com/office/powerpoint/2010/main" val="1756757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6E2E1DCF-40B3-4B28-8BDE-42FDE11025F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defRPr>
            </a:pPr>
            <a:endParaRPr sz="1125" b="1" dirty="0">
              <a:solidFill>
                <a:srgbClr val="D71920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5DF4A4F-B97D-4493-ACD9-ABD1CE57DFF0}"/>
              </a:ext>
            </a:extLst>
          </p:cNvPr>
          <p:cNvSpPr>
            <a:spLocks noGrp="1"/>
          </p:cNvSpPr>
          <p:nvPr/>
        </p:nvSpPr>
        <p:spPr>
          <a:xfrm>
            <a:off x="1143000" y="3238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ES" sz="255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Error técnico</a:t>
            </a:r>
            <a:endParaRPr sz="2550" b="1" dirty="0">
              <a:solidFill>
                <a:srgbClr val="1D1D1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6616FEC5-9BF3-44E3-85BC-5458B0F5CD91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0"/>
          </a:xfrm>
          <a:prstGeom prst="line">
            <a:avLst/>
          </a:prstGeom>
          <a:ln w="9525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372B3EB3-1C8C-4760-B440-62634D2E08EF}"/>
              </a:ext>
            </a:extLst>
          </p:cNvPr>
          <p:cNvSpPr>
            <a:spLocks noGrp="1"/>
          </p:cNvSpPr>
          <p:nvPr/>
        </p:nvSpPr>
        <p:spPr>
          <a:xfrm>
            <a:off x="838200" y="1673803"/>
            <a:ext cx="5624945" cy="1190625"/>
          </a:xfrm>
          <a:prstGeom prst="roundRect">
            <a:avLst>
              <a:gd name="adj" fmla="val 12800"/>
            </a:avLst>
          </a:prstGeom>
          <a:solidFill>
            <a:srgbClr val="F7F5F2"/>
          </a:solidFill>
          <a:ln w="9525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748A0BE-1A8E-4013-A055-876D339676DE}"/>
              </a:ext>
            </a:extLst>
          </p:cNvPr>
          <p:cNvSpPr>
            <a:spLocks noGrp="1"/>
          </p:cNvSpPr>
          <p:nvPr/>
        </p:nvSpPr>
        <p:spPr>
          <a:xfrm>
            <a:off x="838200" y="514501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00" b="1" dirty="0" err="1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rPr>
              <a:t>Aprendizaje</a:t>
            </a:r>
            <a:r>
              <a:rPr lang="es-ES" sz="1600" b="1" dirty="0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lang="es-ES" sz="1600" b="1" dirty="0">
                <a:solidFill>
                  <a:srgbClr val="D71920"/>
                </a:solidFill>
                <a:latin typeface="Bitstream Charter"/>
                <a:ea typeface="Bitstream Charter"/>
                <a:cs typeface="Bitstream Charter"/>
                <a:sym typeface="Wingdings" pitchFamily="2" charset="2"/>
              </a:rPr>
              <a:t></a:t>
            </a:r>
            <a:endParaRPr b="1" dirty="0">
              <a:solidFill>
                <a:srgbClr val="D71920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62AEEA5-F1B3-4DFE-9029-77D1ACA19099}"/>
              </a:ext>
            </a:extLst>
          </p:cNvPr>
          <p:cNvSpPr>
            <a:spLocks noGrp="1"/>
          </p:cNvSpPr>
          <p:nvPr/>
        </p:nvSpPr>
        <p:spPr>
          <a:xfrm>
            <a:off x="2334491" y="5066846"/>
            <a:ext cx="8250382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8982"/>
          </a:bodyPr>
          <a:lstStyle/>
          <a:p>
            <a:pPr algn="l">
              <a:defRPr sz="1500" b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ES" sz="1500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No simplemente mirar que los valores estén correctos, sino que también que estén el formato adecuado para realizar las fórmulas y responder a las preguntas.</a:t>
            </a:r>
            <a:endParaRPr sz="1500" b="0" dirty="0">
              <a:solidFill>
                <a:srgbClr val="1D1D1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E7C0FEF-EA4B-4444-9DB6-3B0414C2F9C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F6368"/>
                </a:solidFill>
                <a:latin typeface="Bitstream Charter"/>
                <a:ea typeface="Bitstream Charter"/>
                <a:cs typeface="Bitstream Charter"/>
              </a:rPr>
              <a:t>Miniproject · PivotTables &amp; Charts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CAD409F-C150-7C37-6DA4-FB7A9E9B2355}"/>
              </a:ext>
            </a:extLst>
          </p:cNvPr>
          <p:cNvSpPr>
            <a:spLocks noGrp="1"/>
          </p:cNvSpPr>
          <p:nvPr/>
        </p:nvSpPr>
        <p:spPr>
          <a:xfrm>
            <a:off x="1205345" y="1578552"/>
            <a:ext cx="1036320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ES" sz="1800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Valores que estaban escritos como ‘TRUE’ y  ‘FALSE’</a:t>
            </a:r>
            <a:endParaRPr sz="1800" b="1" dirty="0">
              <a:solidFill>
                <a:srgbClr val="1D1D1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D2F3F560-C97D-FAF2-D5C6-9DA0DFA8DBD0}"/>
              </a:ext>
            </a:extLst>
          </p:cNvPr>
          <p:cNvSpPr>
            <a:spLocks noGrp="1"/>
          </p:cNvSpPr>
          <p:nvPr/>
        </p:nvSpPr>
        <p:spPr>
          <a:xfrm>
            <a:off x="838200" y="3048000"/>
            <a:ext cx="5624945" cy="1190625"/>
          </a:xfrm>
          <a:prstGeom prst="roundRect">
            <a:avLst>
              <a:gd name="adj" fmla="val 12800"/>
            </a:avLst>
          </a:prstGeom>
          <a:solidFill>
            <a:srgbClr val="F7F5F2"/>
          </a:solidFill>
          <a:ln w="9525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CC82284-AB9D-84D5-CC5E-F74CD53C2BEB}"/>
              </a:ext>
            </a:extLst>
          </p:cNvPr>
          <p:cNvSpPr>
            <a:spLocks noGrp="1"/>
          </p:cNvSpPr>
          <p:nvPr/>
        </p:nvSpPr>
        <p:spPr>
          <a:xfrm>
            <a:off x="1205345" y="2965306"/>
            <a:ext cx="1036320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ES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rPr>
              <a:t>Para poder contabilizarlos </a:t>
            </a:r>
            <a:r>
              <a:rPr lang="es-ES" b="1" dirty="0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  <a:sym typeface="Wingdings" pitchFamily="2" charset="2"/>
              </a:rPr>
              <a:t> 0 y 1</a:t>
            </a:r>
            <a:endParaRPr sz="1800" b="1" dirty="0">
              <a:solidFill>
                <a:srgbClr val="1D1D1F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687821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529591A-097D-427F-84EC-122A78407A41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109728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DEMO</a:t>
            </a:r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3C82EC43-7917-4E1E-9914-2CDE4CEF57D4}"/>
              </a:ext>
            </a:extLst>
          </p:cNvPr>
          <p:cNvSpPr>
            <a:spLocks noGrp="1"/>
          </p:cNvSpPr>
          <p:nvPr/>
        </p:nvSpPr>
        <p:spPr>
          <a:xfrm>
            <a:off x="3619500" y="3857625"/>
            <a:ext cx="4953000" cy="609600"/>
          </a:xfrm>
          <a:prstGeom prst="roundRect">
            <a:avLst>
              <a:gd name="adj" fmla="val 28125"/>
            </a:avLst>
          </a:prstGeom>
          <a:solidFill>
            <a:srgbClr val="FFC72C"/>
          </a:solidFill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D1D1F"/>
                </a:solidFill>
                <a:latin typeface="Bitstream Charter"/>
                <a:ea typeface="Bitstream Charter"/>
                <a:cs typeface="Bitstream Charter"/>
                <a:hlinkClick r:id="rId3"/>
              </a:rPr>
              <a:t>ABRIR EL PROYECTO EN EXCEL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C2F171B-784A-457E-B18E-39DAD6A75619}"/>
              </a:ext>
            </a:extLst>
          </p:cNvPr>
          <p:cNvSpPr>
            <a:spLocks noGrp="1"/>
          </p:cNvSpPr>
          <p:nvPr/>
        </p:nvSpPr>
        <p:spPr>
          <a:xfrm>
            <a:off x="4191000" y="46672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Hojas: Tablas1 y Tablas2</a:t>
            </a:r>
          </a:p>
        </p:txBody>
      </p:sp>
    </p:spTree>
    <p:extLst>
      <p:ext uri="{BB962C8B-B14F-4D97-AF65-F5344CB8AC3E}">
        <p14:creationId xmlns:p14="http://schemas.microsoft.com/office/powerpoint/2010/main" val="173441031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481</Words>
  <Application>Microsoft Macintosh PowerPoint</Application>
  <DocSecurity>0</DocSecurity>
  <PresentationFormat>Panorámica</PresentationFormat>
  <Paragraphs>60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Bitstream Charter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Paula Garcia</cp:lastModifiedBy>
  <cp:revision>2</cp:revision>
  <dcterms:created xsi:type="dcterms:W3CDTF">2026-09-17T15:20:14Z</dcterms:created>
  <dcterms:modified xsi:type="dcterms:W3CDTF">2026-09-17T15:54:47Z</dcterms:modified>
</cp:coreProperties>
</file>